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95" r:id="rId4"/>
    <p:sldId id="257" r:id="rId5"/>
    <p:sldId id="285" r:id="rId6"/>
    <p:sldId id="286" r:id="rId7"/>
    <p:sldId id="258" r:id="rId8"/>
    <p:sldId id="294" r:id="rId9"/>
    <p:sldId id="260" r:id="rId10"/>
    <p:sldId id="296" r:id="rId11"/>
    <p:sldId id="261" r:id="rId12"/>
    <p:sldId id="299" r:id="rId13"/>
    <p:sldId id="303" r:id="rId14"/>
    <p:sldId id="304" r:id="rId15"/>
    <p:sldId id="305" r:id="rId16"/>
    <p:sldId id="301" r:id="rId17"/>
    <p:sldId id="302" r:id="rId18"/>
    <p:sldId id="293" r:id="rId19"/>
    <p:sldId id="264" r:id="rId20"/>
    <p:sldId id="300" r:id="rId21"/>
    <p:sldId id="288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2" autoAdjust="0"/>
    <p:restoredTop sz="94660"/>
  </p:normalViewPr>
  <p:slideViewPr>
    <p:cSldViewPr showGuides="1">
      <p:cViewPr varScale="1">
        <p:scale>
          <a:sx n="105" d="100"/>
          <a:sy n="105" d="100"/>
        </p:scale>
        <p:origin x="1812" y="96"/>
      </p:cViewPr>
      <p:guideLst>
        <p:guide orient="horz" pos="217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19800" y="5301488"/>
            <a:ext cx="2514600" cy="11430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IN" sz="1700" b="1" dirty="0">
                <a:solidFill>
                  <a:schemeClr val="tx1"/>
                </a:solidFill>
              </a:rPr>
              <a:t>        </a:t>
            </a:r>
            <a:r>
              <a:rPr lang="en-IN" sz="1300" b="1" dirty="0">
                <a:solidFill>
                  <a:schemeClr val="tx1"/>
                </a:solidFill>
              </a:rPr>
              <a:t>Program Coordinator.</a:t>
            </a:r>
            <a:endParaRPr lang="en-US" sz="1300" b="1" dirty="0">
              <a:solidFill>
                <a:schemeClr val="tx1"/>
              </a:solidFill>
            </a:endParaRPr>
          </a:p>
          <a:p>
            <a:pPr algn="l"/>
            <a:r>
              <a:rPr lang="en-US" sz="1300" b="1" dirty="0">
                <a:solidFill>
                  <a:srgbClr val="002060"/>
                </a:solidFill>
              </a:rPr>
              <a:t>           Dr. Aruna Kumar B T</a:t>
            </a:r>
            <a:endParaRPr lang="en-US" sz="1300" b="1" dirty="0">
              <a:solidFill>
                <a:srgbClr val="002060"/>
              </a:solidFill>
            </a:endParaRPr>
          </a:p>
          <a:p>
            <a:pPr algn="l"/>
            <a:r>
              <a:rPr lang="en-US" sz="1300" dirty="0">
                <a:solidFill>
                  <a:schemeClr val="tx1"/>
                </a:solidFill>
              </a:rPr>
              <a:t>        Associate Professor &amp;HOD,</a:t>
            </a:r>
            <a:endParaRPr lang="en-US" sz="1300" dirty="0">
              <a:solidFill>
                <a:schemeClr val="tx1"/>
              </a:solidFill>
            </a:endParaRPr>
          </a:p>
          <a:p>
            <a:pPr algn="l"/>
            <a:r>
              <a:rPr lang="en-US" sz="1300" dirty="0">
                <a:solidFill>
                  <a:schemeClr val="tx1"/>
                </a:solidFill>
              </a:rPr>
              <a:t>                  Dept. of CY &amp; IY</a:t>
            </a:r>
            <a:endParaRPr lang="en-US" sz="1300" dirty="0">
              <a:solidFill>
                <a:schemeClr val="tx1"/>
              </a:solidFill>
            </a:endParaRPr>
          </a:p>
          <a:p>
            <a:pPr algn="l"/>
            <a:r>
              <a:rPr lang="en-US" sz="1300" dirty="0">
                <a:solidFill>
                  <a:schemeClr val="tx1"/>
                </a:solidFill>
              </a:rPr>
              <a:t>                        </a:t>
            </a:r>
            <a:endParaRPr lang="en-IN" sz="1300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0" y="0"/>
            <a:ext cx="9144000" cy="1295400"/>
          </a:xfrm>
          <a:prstGeom prst="rect">
            <a:avLst/>
          </a:prstGeom>
          <a:solidFill>
            <a:srgbClr val="984807"/>
          </a:solidFill>
          <a:ln w="9525">
            <a:solidFill>
              <a:srgbClr val="4A7EBB"/>
            </a:solidFill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/>
              <a:t>    </a:t>
            </a:r>
            <a:r>
              <a:rPr lang="en-US" sz="1400" b="1" dirty="0"/>
              <a:t>Sri Syala Educational Trust (R), Bheemasamudra</a:t>
            </a:r>
            <a:br>
              <a:rPr lang="en-US" sz="1000" dirty="0"/>
            </a:br>
            <a:r>
              <a:rPr lang="en-US" sz="3200" b="1" dirty="0">
                <a:solidFill>
                  <a:srgbClr val="FFFF00"/>
                </a:solidFill>
              </a:rPr>
              <a:t>G M UNIVERSITY, DAVANGERE</a:t>
            </a:r>
            <a:br>
              <a:rPr lang="en-US" sz="1000" dirty="0"/>
            </a:br>
            <a:r>
              <a:rPr lang="en-US" sz="1000" dirty="0"/>
              <a:t>         </a:t>
            </a:r>
            <a:r>
              <a:rPr lang="en-US" sz="1600" dirty="0">
                <a:solidFill>
                  <a:srgbClr val="00B0F0"/>
                </a:solidFill>
              </a:rPr>
              <a:t>School of Computer Science T Technology (SCST)</a:t>
            </a:r>
            <a:br>
              <a:rPr lang="en-US" b="1" dirty="0"/>
            </a:br>
            <a:r>
              <a:rPr lang="en-US" b="1" dirty="0"/>
              <a:t>   </a:t>
            </a:r>
            <a:r>
              <a:rPr lang="en-US" sz="1600" b="1" dirty="0">
                <a:solidFill>
                  <a:schemeClr val="bg1"/>
                </a:solidFill>
              </a:rPr>
              <a:t>DEPARTMENT OF CS-CYBER SECURITY &amp; CS-INFORMATION SECURITY</a:t>
            </a:r>
            <a:r>
              <a:rPr lang="en-US" sz="1600" b="1" dirty="0"/>
              <a:t> </a:t>
            </a:r>
            <a:endParaRPr lang="en-US" sz="16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2" descr="C:\Users\Administrator.ARUNKUMARBT\Downloads\image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44462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 Placeholder 1"/>
          <p:cNvSpPr txBox="1"/>
          <p:nvPr/>
        </p:nvSpPr>
        <p:spPr bwMode="auto">
          <a:xfrm>
            <a:off x="609599" y="2197612"/>
            <a:ext cx="7305675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 marL="1143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3175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3175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3175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3175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317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317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317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317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0"/>
              </a:spcBef>
              <a:buClr>
                <a:srgbClr val="330066"/>
              </a:buClr>
              <a:buSzPts val="1800"/>
              <a:buFont typeface="Arial" panose="020B0604020202020204" pitchFamily="34" charset="0"/>
              <a:buNone/>
            </a:pPr>
            <a:r>
              <a:rPr lang="en-GB" altLang="en-US" sz="2400" b="1" dirty="0">
                <a:solidFill>
                  <a:srgbClr val="7030A0"/>
                </a:solidFill>
                <a:cs typeface="Arial" panose="020B0604020202020204" pitchFamily="34" charset="0"/>
                <a:sym typeface="Arial" panose="020B0604020202020204" pitchFamily="34" charset="0"/>
              </a:rPr>
              <a:t>“</a:t>
            </a:r>
            <a:r>
              <a:rPr lang="en-US" altLang="en-GB" sz="2400" b="1" dirty="0">
                <a:solidFill>
                  <a:srgbClr val="7030A0"/>
                </a:solidFill>
                <a:cs typeface="Arial" panose="020B0604020202020204" pitchFamily="34" charset="0"/>
                <a:sym typeface="Arial" panose="020B0604020202020204" pitchFamily="34" charset="0"/>
              </a:rPr>
              <a:t>Password Strength Checker</a:t>
            </a:r>
            <a:r>
              <a:rPr lang="en-GB" altLang="en-US" sz="2400" b="1" dirty="0">
                <a:solidFill>
                  <a:srgbClr val="7030A0"/>
                </a:solidFill>
                <a:cs typeface="Arial" panose="020B0604020202020204" pitchFamily="34" charset="0"/>
                <a:sym typeface="Arial" panose="020B0604020202020204" pitchFamily="34" charset="0"/>
              </a:rPr>
              <a:t>“</a:t>
            </a:r>
            <a:endParaRPr lang="en-GB" altLang="en-US" sz="2400" b="1" dirty="0">
              <a:solidFill>
                <a:srgbClr val="7030A0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Subtitle 2"/>
          <p:cNvSpPr txBox="1"/>
          <p:nvPr/>
        </p:nvSpPr>
        <p:spPr>
          <a:xfrm>
            <a:off x="762000" y="5299456"/>
            <a:ext cx="25146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700" b="1" dirty="0">
                <a:solidFill>
                  <a:schemeClr val="tx1"/>
                </a:solidFill>
              </a:rPr>
              <a:t>          </a:t>
            </a:r>
            <a:r>
              <a:rPr lang="en-IN" sz="1300" b="1" dirty="0">
                <a:solidFill>
                  <a:schemeClr val="tx1"/>
                </a:solidFill>
              </a:rPr>
              <a:t>Uder Guidance of:</a:t>
            </a:r>
            <a:endParaRPr lang="en-US" sz="1300" b="1" dirty="0">
              <a:solidFill>
                <a:schemeClr val="tx1"/>
              </a:solidFill>
            </a:endParaRPr>
          </a:p>
          <a:p>
            <a:pPr algn="l"/>
            <a:r>
              <a:rPr lang="en-US" sz="1300" b="1" dirty="0">
                <a:solidFill>
                  <a:srgbClr val="002060"/>
                </a:solidFill>
              </a:rPr>
              <a:t>              Ms. Madhu M C</a:t>
            </a:r>
            <a:endParaRPr lang="en-US" sz="1300" b="1" dirty="0">
              <a:solidFill>
                <a:srgbClr val="002060"/>
              </a:solidFill>
            </a:endParaRPr>
          </a:p>
          <a:p>
            <a:pPr algn="l"/>
            <a:r>
              <a:rPr lang="en-US" sz="1300" dirty="0">
                <a:solidFill>
                  <a:schemeClr val="tx1"/>
                </a:solidFill>
              </a:rPr>
              <a:t>           Ass</a:t>
            </a:r>
            <a:r>
              <a:rPr lang="en-IN" altLang="en-US" sz="1300" dirty="0">
                <a:solidFill>
                  <a:schemeClr val="tx1"/>
                </a:solidFill>
              </a:rPr>
              <a:t>ist</a:t>
            </a:r>
            <a:r>
              <a:rPr lang="en-US" sz="1300" dirty="0">
                <a:solidFill>
                  <a:schemeClr val="tx1"/>
                </a:solidFill>
              </a:rPr>
              <a:t>a</a:t>
            </a:r>
            <a:r>
              <a:rPr lang="en-IN" altLang="en-US" sz="1300" dirty="0">
                <a:solidFill>
                  <a:schemeClr val="tx1"/>
                </a:solidFill>
              </a:rPr>
              <a:t>nt</a:t>
            </a:r>
            <a:r>
              <a:rPr lang="en-US" sz="1300" dirty="0">
                <a:solidFill>
                  <a:schemeClr val="tx1"/>
                </a:solidFill>
              </a:rPr>
              <a:t> Professor,</a:t>
            </a:r>
            <a:endParaRPr lang="en-US" sz="1300" dirty="0">
              <a:solidFill>
                <a:schemeClr val="tx1"/>
              </a:solidFill>
            </a:endParaRPr>
          </a:p>
          <a:p>
            <a:pPr algn="l"/>
            <a:r>
              <a:rPr lang="en-US" sz="1300" dirty="0">
                <a:solidFill>
                  <a:schemeClr val="tx1"/>
                </a:solidFill>
              </a:rPr>
              <a:t>                Dept. of CY &amp; IY</a:t>
            </a:r>
            <a:endParaRPr lang="en-US" sz="1300" dirty="0">
              <a:solidFill>
                <a:schemeClr val="tx1"/>
              </a:solidFill>
            </a:endParaRPr>
          </a:p>
          <a:p>
            <a:pPr algn="l"/>
            <a:r>
              <a:rPr lang="en-US" sz="1300" dirty="0">
                <a:solidFill>
                  <a:schemeClr val="tx1"/>
                </a:solidFill>
              </a:rPr>
              <a:t>                        </a:t>
            </a:r>
            <a:endParaRPr lang="en-IN" sz="1300" dirty="0">
              <a:solidFill>
                <a:schemeClr val="tx1"/>
              </a:solidFill>
            </a:endParaRPr>
          </a:p>
        </p:txBody>
      </p:sp>
      <p:sp>
        <p:nvSpPr>
          <p:cNvPr id="6" name="Text Placeholder 1"/>
          <p:cNvSpPr txBox="1"/>
          <p:nvPr/>
        </p:nvSpPr>
        <p:spPr bwMode="auto">
          <a:xfrm>
            <a:off x="609600" y="1579883"/>
            <a:ext cx="7305675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 marL="1143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3175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3175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3175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3175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317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317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317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317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0"/>
              </a:spcBef>
              <a:buClr>
                <a:srgbClr val="330066"/>
              </a:buClr>
              <a:buSzPts val="1800"/>
              <a:buFont typeface="Arial" panose="020B0604020202020204" pitchFamily="34" charset="0"/>
              <a:buNone/>
            </a:pPr>
            <a:r>
              <a:rPr lang="en-GB" altLang="en-US" sz="1600" b="1" dirty="0">
                <a:solidFill>
                  <a:srgbClr val="00B050"/>
                </a:solidFill>
                <a:cs typeface="Arial" panose="020B0604020202020204" pitchFamily="34" charset="0"/>
                <a:sym typeface="Arial" panose="020B0604020202020204" pitchFamily="34" charset="0"/>
              </a:rPr>
              <a:t>A Project Synopsis Presentation on</a:t>
            </a:r>
            <a:endParaRPr lang="en-GB" altLang="en-US" sz="1600" b="1" dirty="0">
              <a:solidFill>
                <a:srgbClr val="00B050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Subtitle 2"/>
          <p:cNvSpPr txBox="1"/>
          <p:nvPr/>
        </p:nvSpPr>
        <p:spPr>
          <a:xfrm>
            <a:off x="3415284" y="5299456"/>
            <a:ext cx="2514600" cy="1143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700" b="1" dirty="0">
                <a:solidFill>
                  <a:schemeClr val="tx1"/>
                </a:solidFill>
              </a:rPr>
              <a:t>          </a:t>
            </a:r>
            <a:r>
              <a:rPr lang="en-IN" sz="1300" b="1" dirty="0">
                <a:solidFill>
                  <a:schemeClr val="tx1"/>
                </a:solidFill>
              </a:rPr>
              <a:t>Project Coordinator:</a:t>
            </a:r>
            <a:endParaRPr lang="en-US" sz="1300" b="1" dirty="0">
              <a:solidFill>
                <a:schemeClr val="tx1"/>
              </a:solidFill>
            </a:endParaRPr>
          </a:p>
          <a:p>
            <a:pPr algn="l"/>
            <a:r>
              <a:rPr lang="en-US" sz="1300" b="1" dirty="0">
                <a:solidFill>
                  <a:srgbClr val="002060"/>
                </a:solidFill>
              </a:rPr>
              <a:t>                 Dr. Rachana P G</a:t>
            </a:r>
            <a:endParaRPr lang="en-US" sz="1300" b="1" dirty="0">
              <a:solidFill>
                <a:srgbClr val="002060"/>
              </a:solidFill>
            </a:endParaRPr>
          </a:p>
          <a:p>
            <a:pPr algn="l"/>
            <a:r>
              <a:rPr lang="en-US" sz="1300" dirty="0">
                <a:solidFill>
                  <a:schemeClr val="tx1"/>
                </a:solidFill>
              </a:rPr>
              <a:t>               Assistant Professor,</a:t>
            </a:r>
            <a:endParaRPr lang="en-US" sz="1300" dirty="0">
              <a:solidFill>
                <a:schemeClr val="tx1"/>
              </a:solidFill>
            </a:endParaRPr>
          </a:p>
          <a:p>
            <a:pPr algn="l"/>
            <a:r>
              <a:rPr lang="en-US" sz="1300" dirty="0">
                <a:solidFill>
                  <a:schemeClr val="tx1"/>
                </a:solidFill>
              </a:rPr>
              <a:t>                  Dept. of CY &amp; IY</a:t>
            </a:r>
            <a:endParaRPr lang="en-US" sz="1300" dirty="0">
              <a:solidFill>
                <a:schemeClr val="tx1"/>
              </a:solidFill>
            </a:endParaRPr>
          </a:p>
          <a:p>
            <a:pPr algn="l"/>
            <a:r>
              <a:rPr lang="en-US" sz="1300" dirty="0">
                <a:solidFill>
                  <a:schemeClr val="tx1"/>
                </a:solidFill>
              </a:rPr>
              <a:t>                        </a:t>
            </a:r>
            <a:endParaRPr lang="en-IN" sz="1300" dirty="0">
              <a:solidFill>
                <a:schemeClr val="tx1"/>
              </a:solidFill>
            </a:endParaRPr>
          </a:p>
        </p:txBody>
      </p:sp>
      <p:sp>
        <p:nvSpPr>
          <p:cNvPr id="9" name="Text Placeholder 1"/>
          <p:cNvSpPr txBox="1"/>
          <p:nvPr/>
        </p:nvSpPr>
        <p:spPr bwMode="auto">
          <a:xfrm>
            <a:off x="690561" y="2890518"/>
            <a:ext cx="7305675" cy="481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 marL="1143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3175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3175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3175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3175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317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317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317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3175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5000"/>
              </a:lnSpc>
              <a:spcBef>
                <a:spcPct val="0"/>
              </a:spcBef>
              <a:buClr>
                <a:srgbClr val="330066"/>
              </a:buClr>
              <a:buSzPts val="1800"/>
              <a:buFont typeface="Arial" panose="020B0604020202020204" pitchFamily="34" charset="0"/>
              <a:buNone/>
            </a:pPr>
            <a:r>
              <a:rPr lang="en-GB" altLang="en-US" sz="1600" b="1" dirty="0">
                <a:solidFill>
                  <a:srgbClr val="FFC000"/>
                </a:solidFill>
                <a:cs typeface="Arial" panose="020B0604020202020204" pitchFamily="34" charset="0"/>
                <a:sym typeface="Arial" panose="020B0604020202020204" pitchFamily="34" charset="0"/>
              </a:rPr>
              <a:t>Presented By:</a:t>
            </a:r>
            <a:endParaRPr lang="en-GB" altLang="en-US" sz="1600" b="1" dirty="0">
              <a:solidFill>
                <a:srgbClr val="FFC000"/>
              </a:solidFill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3" name="Picture 12" descr="Screenshot 2026-04-07 095740"/>
          <p:cNvPicPr/>
          <p:nvPr/>
        </p:nvPicPr>
        <p:blipFill>
          <a:blip r:embed="rId2"/>
          <a:stretch>
            <a:fillRect/>
          </a:stretch>
        </p:blipFill>
        <p:spPr>
          <a:xfrm>
            <a:off x="2058035" y="3429635"/>
            <a:ext cx="4819650" cy="1676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05200" y="2091691"/>
            <a:ext cx="204479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Madhu M C</a:t>
            </a:r>
            <a:endParaRPr lang="en-US" alt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4017632" y="936035"/>
            <a:ext cx="1167535" cy="11030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Photo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1600187" y="5227340"/>
            <a:ext cx="13131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Samarth S 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71800" y="5227320"/>
            <a:ext cx="2468880" cy="47307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Premsagar K Goveshwar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8600" y="5227320"/>
            <a:ext cx="1235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Karthik P Y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5499100" y="5227320"/>
            <a:ext cx="1555750" cy="3384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Vinayaka M P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7162800" y="5226685"/>
            <a:ext cx="3048000" cy="421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Rakshith V S</a:t>
            </a: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228587" y="3962445"/>
            <a:ext cx="1167535" cy="1103077"/>
          </a:xfrm>
          <a:prstGeom prst="ellipse">
            <a:avLst/>
          </a:prstGeom>
          <a:blipFill rotWithShape="1">
            <a:blip r:embed="rId1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Oval 9"/>
          <p:cNvSpPr/>
          <p:nvPr/>
        </p:nvSpPr>
        <p:spPr>
          <a:xfrm>
            <a:off x="1676387" y="3962445"/>
            <a:ext cx="1167535" cy="1103077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Oval 11"/>
          <p:cNvSpPr/>
          <p:nvPr/>
        </p:nvSpPr>
        <p:spPr>
          <a:xfrm>
            <a:off x="3581387" y="3962445"/>
            <a:ext cx="1167535" cy="1103077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Oval 19"/>
          <p:cNvSpPr/>
          <p:nvPr/>
        </p:nvSpPr>
        <p:spPr>
          <a:xfrm>
            <a:off x="5693397" y="3962445"/>
            <a:ext cx="1167535" cy="1103077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Oval 21"/>
          <p:cNvSpPr/>
          <p:nvPr/>
        </p:nvSpPr>
        <p:spPr>
          <a:xfrm>
            <a:off x="7315187" y="3962445"/>
            <a:ext cx="1167535" cy="1103077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3152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7955"/>
            <a:ext cx="7848600" cy="493395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Problem Statement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Literature Survey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Objectives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Flowchart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Outcomes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Future Scope</a:t>
            </a:r>
            <a:endParaRPr lang="en-IN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Dataset                        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dirty="0"/>
          </a:p>
          <a:p>
            <a:pPr>
              <a:buNone/>
            </a:pPr>
            <a:endParaRPr lang="en-IN" dirty="0"/>
          </a:p>
        </p:txBody>
      </p:sp>
      <p:sp>
        <p:nvSpPr>
          <p:cNvPr id="7" name="Right Triangle 6"/>
          <p:cNvSpPr/>
          <p:nvPr/>
        </p:nvSpPr>
        <p:spPr>
          <a:xfrm rot="10800000">
            <a:off x="6765925" y="-7938"/>
            <a:ext cx="2378075" cy="2265363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8" name="Picture 5" descr="A logo of a tree and book&#10;&#10;Description automatically generate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7921625" y="0"/>
            <a:ext cx="1222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 rot="5400000">
            <a:off x="-3195637" y="3214687"/>
            <a:ext cx="6858000" cy="469901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212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914400"/>
            <a:ext cx="8153400" cy="5334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/>
              <a:t>            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10800000">
            <a:off x="6765925" y="-7938"/>
            <a:ext cx="2378075" cy="2265363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5" descr="A logo of a tree and book&#10;&#10;Description automatically generate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7921625" y="0"/>
            <a:ext cx="1222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 rot="5400000">
            <a:off x="-3195637" y="3214687"/>
            <a:ext cx="6858000" cy="469901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Text Box 6"/>
          <p:cNvSpPr txBox="1"/>
          <p:nvPr/>
        </p:nvSpPr>
        <p:spPr>
          <a:xfrm>
            <a:off x="871855" y="1676400"/>
            <a:ext cx="7050405" cy="5317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Passwords are used to protect personal and sensitive information.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Weak passwords can be easily guessed or hacked.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Strong passwords improve the security of user accounts.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checks the strength of a password entered by the user.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It helps users create safer and more secure passwords.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1606"/>
            <a:ext cx="8229600" cy="79216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ight Triangle 4"/>
          <p:cNvSpPr/>
          <p:nvPr/>
        </p:nvSpPr>
        <p:spPr>
          <a:xfrm rot="10800000">
            <a:off x="6765925" y="-7938"/>
            <a:ext cx="2378075" cy="2265363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6" name="Picture 5" descr="A logo of a tree and book&#10;&#10;Description automatically generate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7921625" y="0"/>
            <a:ext cx="1222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 rot="5400000">
            <a:off x="-3195637" y="3214687"/>
            <a:ext cx="6858000" cy="469901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" name="Text Box 2"/>
          <p:cNvSpPr txBox="1"/>
          <p:nvPr/>
        </p:nvSpPr>
        <p:spPr>
          <a:xfrm>
            <a:off x="1384935" y="1524000"/>
            <a:ext cx="637413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Many users create simple and weak passwords that are easy to guess or hack. 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Weak passwords can lead to unauthorized access, data theft and security risks. 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system is needed to check the strength of passwords and help users create more secure passwords.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152717"/>
            <a:ext cx="5024439" cy="655638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  </a:t>
            </a:r>
            <a:r>
              <a:rPr lang="en-US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4" name="Right Triangle 3"/>
          <p:cNvSpPr/>
          <p:nvPr/>
        </p:nvSpPr>
        <p:spPr>
          <a:xfrm rot="10800000">
            <a:off x="6929438" y="-7938"/>
            <a:ext cx="2214561" cy="2065338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5" descr="A logo of a tree and book&#10;&#10;Description automatically generated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8038548" y="1"/>
            <a:ext cx="1105452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 rot="5400000">
            <a:off x="-3195637" y="3214687"/>
            <a:ext cx="6858000" cy="469901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  <p:custDataLst>
              <p:tags r:id="rId2"/>
            </p:custDataLst>
          </p:nvPr>
        </p:nvGraphicFramePr>
        <p:xfrm>
          <a:off x="468630" y="662940"/>
          <a:ext cx="8473440" cy="5747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395"/>
                <a:gridCol w="2407285"/>
                <a:gridCol w="1497330"/>
                <a:gridCol w="1151255"/>
                <a:gridCol w="2670175"/>
              </a:tblGrid>
              <a:tr h="64198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/>
                        <a:t>Sl</a:t>
                      </a:r>
                      <a:r>
                        <a:rPr lang="en-IN" sz="1600" dirty="0"/>
                        <a:t> No.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Title of the Paper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Author Name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Year of Published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Technology Adopted</a:t>
                      </a:r>
                      <a:endParaRPr lang="en-IN" sz="1600" dirty="0"/>
                    </a:p>
                  </a:txBody>
                  <a:tcPr anchor="ctr"/>
                </a:tc>
              </a:tr>
              <a:tr h="116141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1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Password Strength Analysis using  Machine Learning Based Techniques</a:t>
                      </a:r>
                      <a:endParaRPr lang="en-US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Sakya Sarkar, Mauparna Nandan</a:t>
                      </a:r>
                      <a:endParaRPr lang="en-US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IN" sz="1600"/>
                        <a:t>2022</a:t>
                      </a:r>
                      <a:endParaRPr lang="en-US" alt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1.</a:t>
                      </a:r>
                      <a:r>
                        <a:rPr lang="en-US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</a:t>
                      </a:r>
                      <a:endParaRPr lang="en-US" altLang="en-US" sz="1600" dirty="0"/>
                    </a:p>
                    <a:p>
                      <a:r>
                        <a:rPr lang="en-IN" sz="1600" dirty="0"/>
                        <a:t>2.</a:t>
                      </a:r>
                      <a:r>
                        <a:rPr lang="en-US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</a:t>
                      </a:r>
                      <a:endParaRPr lang="en-US" altLang="en-US" sz="1600" dirty="0"/>
                    </a:p>
                    <a:p>
                      <a:r>
                        <a:rPr lang="en-IN" sz="1600" dirty="0"/>
                        <a:t>3.</a:t>
                      </a:r>
                      <a:r>
                        <a:rPr lang="en-US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Password Classification</a:t>
                      </a:r>
                      <a:endParaRPr lang="en-US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5598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2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Based Password Strength Analysis</a:t>
                      </a:r>
                      <a:endParaRPr lang="en-US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G. Krishna Teja, A. Harshel Srivatsava</a:t>
                      </a:r>
                      <a:endParaRPr lang="en-US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US" alt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lang="en-US" alt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</a:t>
                      </a:r>
                      <a:r>
                        <a:rPr lang="en-US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Algorithms</a:t>
                      </a:r>
                      <a:endParaRPr lang="en-US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lang="en-US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Password Dataset Analysis</a:t>
                      </a:r>
                      <a:endParaRPr lang="en-US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lang="en-US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Classification Techniques</a:t>
                      </a:r>
                      <a:endParaRPr lang="en-US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631315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3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Password Strength Analysis: A Survey</a:t>
                      </a:r>
                      <a:endParaRPr lang="en-US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Krutarth Bhatt, Sandeep Kumar, and Prof. Saritha Murali</a:t>
                      </a:r>
                      <a:endParaRPr lang="en-US" alt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IN" sz="1600"/>
                        <a:t>2023</a:t>
                      </a:r>
                      <a:endParaRPr lang="en-US" altLang="en-IN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Rule-Based Password Checking</a:t>
                      </a:r>
                      <a:endParaRPr lang="en-US" altLang="en-US" sz="1600" dirty="0"/>
                    </a:p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r>
                        <a:rPr lang="en-US" alt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Survey-Based Analytical Study</a:t>
                      </a:r>
                      <a:endParaRPr lang="en-US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r>
                        <a:rPr lang="en-US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Password Security Evaluation</a:t>
                      </a:r>
                      <a:endParaRPr lang="en-US" altLang="en-US" sz="1600" dirty="0"/>
                    </a:p>
                    <a:p>
                      <a:endParaRPr lang="en-US" altLang="en-US" sz="1600" dirty="0"/>
                    </a:p>
                  </a:txBody>
                  <a:tcPr/>
                </a:tc>
              </a:tr>
              <a:tr h="1456690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4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Real-Time Password Strength Analyzer</a:t>
                      </a:r>
                      <a:endParaRPr lang="en-US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Ravibalan, Vignesh  and Raju</a:t>
                      </a:r>
                      <a:endParaRPr lang="en-US" alt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US" alt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r>
                        <a:rPr lang="en-US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Password Analysis</a:t>
                      </a:r>
                      <a:endParaRPr lang="en-US" altLang="en-US" sz="1600" dirty="0"/>
                    </a:p>
                    <a:p>
                      <a:r>
                        <a:rPr lang="en-IN" sz="1600" dirty="0"/>
                        <a:t>2.</a:t>
                      </a:r>
                      <a:r>
                        <a:rPr lang="en-US" alt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Rule-Based Validation</a:t>
                      </a:r>
                      <a:endParaRPr lang="en-US" altLang="en-US" sz="1600" dirty="0"/>
                    </a:p>
                    <a:p>
                      <a:r>
                        <a:rPr lang="en-IN" sz="1600" dirty="0"/>
                        <a:t>3.</a:t>
                      </a:r>
                      <a:r>
                        <a:rPr lang="en-US" altLang="en-US" sz="1600" dirty="0"/>
                        <a:t>Password Complexity Evaluation</a:t>
                      </a:r>
                      <a:endParaRPr lang="en-US" altLang="en-US" sz="1600" dirty="0"/>
                    </a:p>
                    <a:p>
                      <a:endParaRPr lang="en-US" altLang="en-US" sz="1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9035415" cy="4319905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 that evaluates the strength of user passwords.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It should analyze factors like length, complexity, and predictability to ensure security.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 Develop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Python-based application to analyze password strength. It should assess security by evaluating factors such as complexity, length, and common patterns.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security rules for evaluating passwords.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Ensure the rules enforce criteria such as length, complexity, and uniqueness.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8000" y="450027"/>
            <a:ext cx="3048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ight Triangle 5"/>
          <p:cNvSpPr/>
          <p:nvPr/>
        </p:nvSpPr>
        <p:spPr>
          <a:xfrm rot="10800000">
            <a:off x="6765925" y="-7938"/>
            <a:ext cx="2378075" cy="2265363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7" name="Picture 5" descr="A logo of a tree and book&#10;&#10;Description automatically generate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7921625" y="0"/>
            <a:ext cx="1222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/>
        </p:nvSpPr>
        <p:spPr>
          <a:xfrm rot="5400000">
            <a:off x="-3195637" y="3214687"/>
            <a:ext cx="6858000" cy="469901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996950"/>
            <a:ext cx="7467600" cy="2573655"/>
          </a:xfrm>
        </p:spPr>
        <p:txBody>
          <a:bodyPr>
            <a:normAutofit fontScale="50000"/>
          </a:bodyPr>
          <a:lstStyle/>
          <a:p>
            <a:pPr marL="514350" lvl="0" indent="-514350">
              <a:buAutoNum type="arabicPeriod"/>
            </a:pPr>
            <a:r>
              <a:rPr lang="en-GB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Requirements: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/ Laptop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i3 or above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4 GB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Keyboard and Mouse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Minimum 100 MB free space</a:t>
            </a: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/>
          </a:p>
        </p:txBody>
      </p:sp>
      <p:sp>
        <p:nvSpPr>
          <p:cNvPr id="4" name="Right Triangle 3"/>
          <p:cNvSpPr/>
          <p:nvPr/>
        </p:nvSpPr>
        <p:spPr>
          <a:xfrm rot="10800000">
            <a:off x="6765925" y="-7938"/>
            <a:ext cx="2378075" cy="2265363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5" descr="A logo of a tree and book&#10;&#10;Description automatically generate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7921625" y="0"/>
            <a:ext cx="1222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 rot="5400000">
            <a:off x="-3195637" y="3214687"/>
            <a:ext cx="6858000" cy="469901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Content Placeholder 2"/>
          <p:cNvSpPr txBox="1"/>
          <p:nvPr/>
        </p:nvSpPr>
        <p:spPr>
          <a:xfrm>
            <a:off x="762000" y="3733800"/>
            <a:ext cx="7467600" cy="2973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Software Requirements: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10 / 11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 / Editor: PyCharm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Libraries: Built-in Python modules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Flask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Browser: Any web browser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2970" y="228600"/>
            <a:ext cx="4690745" cy="882015"/>
          </a:xfrm>
        </p:spPr>
        <p:txBody>
          <a:bodyPr/>
          <a:lstStyle/>
          <a:p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10800000">
            <a:off x="6765925" y="-7938"/>
            <a:ext cx="2378075" cy="2265363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5" descr="A logo of a tree and book&#10;&#10;Description automatically generate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7921625" y="0"/>
            <a:ext cx="1222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 rot="5400000">
            <a:off x="-3195637" y="3214687"/>
            <a:ext cx="6858000" cy="469901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7" name="Picture 6" descr="FLOW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066800"/>
            <a:ext cx="3279775" cy="491998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2667000" y="5943600"/>
            <a:ext cx="40062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Flowchart of Password Strength Checker</a:t>
            </a:r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10800000">
            <a:off x="6765925" y="-7938"/>
            <a:ext cx="2378075" cy="2265363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5" descr="A logo of a tree and book&#10;&#10;Description automatically generate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7921625" y="0"/>
            <a:ext cx="1222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 rot="5400000">
            <a:off x="-3195637" y="3214687"/>
            <a:ext cx="6858000" cy="469901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Content Placeholder 6"/>
          <p:cNvSpPr txBox="1"/>
          <p:nvPr/>
        </p:nvSpPr>
        <p:spPr>
          <a:xfrm>
            <a:off x="533400" y="960120"/>
            <a:ext cx="8077200" cy="5769610"/>
          </a:xfrm>
          <a:prstGeom prst="rect">
            <a:avLst/>
          </a:prstGeom>
          <a:noFill/>
        </p:spPr>
        <p:txBody>
          <a:bodyPr vert="horz" wrap="square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 </a:t>
            </a: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 this phase, the project requirements are identified and analyzed.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accept a password from the user and check its strength based on security conditions 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2.System design</a:t>
            </a: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this phase, the overall structure and working of the system are planned.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design includes: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 input section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Password checking logic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Strength result display (Weak / Medium / Strong)</a:t>
            </a: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Suggestion message for improving password security</a:t>
            </a:r>
            <a:r>
              <a:rPr lang="en-IN" altLang="en-US" sz="1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l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 rot="10800000">
            <a:off x="6765925" y="-7938"/>
            <a:ext cx="2378075" cy="2265363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5" descr="A logo of a tree and book&#10;&#10;Description automatically generate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7921625" y="0"/>
            <a:ext cx="1222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 rot="5400000">
            <a:off x="-3195637" y="3214687"/>
            <a:ext cx="6858000" cy="469901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" name="Text Box 2"/>
          <p:cNvSpPr txBox="1"/>
          <p:nvPr/>
        </p:nvSpPr>
        <p:spPr>
          <a:xfrm>
            <a:off x="762000" y="762000"/>
            <a:ext cx="7030720" cy="57899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3. Front-end and Back-end development</a:t>
            </a: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/>
            <a:endParaRPr lang="en-US" sz="2000"/>
          </a:p>
          <a:p>
            <a:pPr algn="l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 this phase, the project is implemented using Python.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Front-End: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 for entering password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Displaying password strength result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Back-End: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Python logic to check: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uppercase letters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lowercase letters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special characters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password as Weak, Medium, or Strong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then tested using sample passwords.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630" y="75883"/>
            <a:ext cx="8229600" cy="1143000"/>
          </a:xfrm>
        </p:spPr>
        <p:txBody>
          <a:bodyPr/>
          <a:p>
            <a:r>
              <a:rPr lang="en-IN" altLang="en-US" sz="4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</a:t>
            </a:r>
            <a:endParaRPr lang="en-IN" altLang="en-US" sz="40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 rot="5400000">
            <a:off x="-3195637" y="3214687"/>
            <a:ext cx="6858000" cy="469901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Right Triangle 3"/>
          <p:cNvSpPr/>
          <p:nvPr/>
        </p:nvSpPr>
        <p:spPr>
          <a:xfrm rot="10800000">
            <a:off x="6765925" y="-7938"/>
            <a:ext cx="2378075" cy="2265363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5" descr="A logo of a tree and book&#10;&#10;Description automatically generate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7921625" y="0"/>
            <a:ext cx="1222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home p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6910705" cy="2930525"/>
          </a:xfrm>
          <a:prstGeom prst="rect">
            <a:avLst/>
          </a:prstGeom>
        </p:spPr>
      </p:pic>
      <p:pic>
        <p:nvPicPr>
          <p:cNvPr id="10" name="Picture 9" descr="requrimen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315" y="4038600"/>
            <a:ext cx="6930390" cy="22421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 rot="5400000">
            <a:off x="-3195637" y="3214687"/>
            <a:ext cx="6858000" cy="469901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Right Triangle 3"/>
          <p:cNvSpPr/>
          <p:nvPr/>
        </p:nvSpPr>
        <p:spPr>
          <a:xfrm rot="10800000">
            <a:off x="6765925" y="-7938"/>
            <a:ext cx="2378075" cy="2265363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5" descr="A logo of a tree and book&#10;&#10;Description automatically generate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7921625" y="0"/>
            <a:ext cx="1222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wea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762000"/>
            <a:ext cx="4053205" cy="5697220"/>
          </a:xfrm>
          <a:prstGeom prst="rect">
            <a:avLst/>
          </a:prstGeom>
        </p:spPr>
      </p:pic>
      <p:pic>
        <p:nvPicPr>
          <p:cNvPr id="10" name="Picture 9" descr="mediu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762000"/>
            <a:ext cx="4031615" cy="56972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Content Placeholder 6" descr="stromg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39035" y="1600200"/>
            <a:ext cx="4264660" cy="45262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 rot="5400000">
            <a:off x="-3195637" y="3214687"/>
            <a:ext cx="6858000" cy="469901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Right Triangle 3"/>
          <p:cNvSpPr/>
          <p:nvPr/>
        </p:nvSpPr>
        <p:spPr>
          <a:xfrm rot="10800000">
            <a:off x="6765925" y="-7938"/>
            <a:ext cx="2378075" cy="2265363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5" descr="A logo of a tree and book&#10;&#10;Description automatically generat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7921625" y="0"/>
            <a:ext cx="1222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en-IN" altLang="en-US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OUTCOMES/</a:t>
            </a:r>
            <a:r>
              <a:rPr lang="en-IN" altLang="en-US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FUTURE SCOPE</a:t>
            </a:r>
            <a:endParaRPr lang="en-IN" altLang="en-US" sz="32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143000"/>
            <a:ext cx="8229600" cy="5067300"/>
          </a:xfrm>
        </p:spPr>
        <p:txBody>
          <a:bodyPr>
            <a:normAutofit lnSpcReduction="10000"/>
          </a:bodyPr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web-based Password Strength Checker using HTML, CSS, JavaScript, and Python Flask.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Improved knowledge of Python programming and the Flask framework.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Created a user-friendly interface for easy password evaluation.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Learned how client-side and server-side components communicate.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Integrate with online databases of leaked passwords to warn users about breached passwords.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Add password history analysis to prevent password reuse.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Add detection of commonly used and compromised passwords.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 rot="5400000">
            <a:off x="-3195637" y="3214687"/>
            <a:ext cx="6858000" cy="469901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Right Triangle 3"/>
          <p:cNvSpPr/>
          <p:nvPr/>
        </p:nvSpPr>
        <p:spPr>
          <a:xfrm rot="10800000">
            <a:off x="6765925" y="-7938"/>
            <a:ext cx="2378075" cy="2265363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5" descr="A logo of a tree and book&#10;&#10;Description automatically generate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7921625" y="0"/>
            <a:ext cx="1222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Dataset/Coding</a:t>
            </a:r>
            <a:endParaRPr lang="en-IN" altLang="en-US" sz="32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Password Dataset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Contains various passwords with labels such as Weak, Medium, and Strong based on password length, character combinations, and complexity.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Feature Dataset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Includes password features such as Length, Uppercase Letters Count, Lowercase Letters Count, Digits Count, Special Characters Count, and Entropy Score.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Training Dataset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Used to train the Machine Learning model to classify password strength accurately into Weak, Medium, or Strong categories.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Testing Dataset 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: Used to evaluate the performance and accuracy of the trained model on unseen password samples.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 rot="5400000">
            <a:off x="-3195637" y="3214687"/>
            <a:ext cx="6858000" cy="469901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Right Triangle 3"/>
          <p:cNvSpPr/>
          <p:nvPr/>
        </p:nvSpPr>
        <p:spPr>
          <a:xfrm rot="10800000">
            <a:off x="6765925" y="-7938"/>
            <a:ext cx="2378075" cy="2265363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5" descr="A logo of a tree and book&#10;&#10;Description automatically generate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7921625" y="0"/>
            <a:ext cx="1222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620000" cy="114300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ight Triangle 4"/>
          <p:cNvSpPr/>
          <p:nvPr/>
        </p:nvSpPr>
        <p:spPr>
          <a:xfrm rot="10800000">
            <a:off x="6765925" y="-7938"/>
            <a:ext cx="2378075" cy="2265363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6" name="Picture 5" descr="A logo of a tree and book&#10;&#10;Description automatically generate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7921625" y="0"/>
            <a:ext cx="1222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 rot="5400000">
            <a:off x="-3195637" y="3214687"/>
            <a:ext cx="6858000" cy="469901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" name="Text Box 2"/>
          <p:cNvSpPr txBox="1"/>
          <p:nvPr/>
        </p:nvSpPr>
        <p:spPr>
          <a:xfrm>
            <a:off x="914400" y="1557655"/>
            <a:ext cx="747903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Password Strength Checker</a:t>
            </a: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will be developed using Python.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helps in checking whether a password is weak, medium, or strong based on important security conditions such as: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length of password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uppercase letters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lowercase letters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special characters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creates awareness about strong password usage and helps users improve their account security.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600200"/>
            <a:ext cx="7924800" cy="4525963"/>
          </a:xfrm>
        </p:spPr>
        <p:txBody>
          <a:bodyPr>
            <a:normAutofit lnSpcReduction="10000"/>
          </a:bodyPr>
          <a:lstStyle/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Sakya Sarkar and Mauparna Nandan,“Password Strength Analysis and its Classification by Applying Machine Learning Based Techniques”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2022.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Sony Kuriakose, G. Krishna Teja, A. Harshel Srivatsava, and Sravan Duggi,“Machine Learning Based Password Strength Analysis”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2022.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Sukrut Pendharkar, Krutarth Bhatt, Sandeep Kumar, and Prof. Saritha Murali,“Password Strength Analysis: A Survey”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2022.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Kalaivani, Ravibalan, Vignesh, Arockiya Aswin, and Raju,“A Real-Time Password Strength Analyzer”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10800000">
            <a:off x="6765925" y="-7938"/>
            <a:ext cx="2378075" cy="2265363"/>
          </a:xfrm>
          <a:prstGeom prst="rtTriangle">
            <a:avLst/>
          </a:prstGeom>
          <a:solidFill>
            <a:srgbClr val="5B1F1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5" descr="A logo of a tree and book&#10;&#10;Description automatically generated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0" t="14983" r="10065" b="14301"/>
          <a:stretch>
            <a:fillRect/>
          </a:stretch>
        </p:blipFill>
        <p:spPr bwMode="auto">
          <a:xfrm>
            <a:off x="7921625" y="0"/>
            <a:ext cx="12223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 rot="5400000">
            <a:off x="-3195637" y="3214687"/>
            <a:ext cx="6858000" cy="469901"/>
          </a:xfrm>
          <a:prstGeom prst="rect">
            <a:avLst/>
          </a:prstGeom>
          <a:solidFill>
            <a:srgbClr val="632523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1566545" y="1535430"/>
            <a:ext cx="6010275" cy="37877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457200" y="685800"/>
            <a:ext cx="8572500" cy="529209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67*433"/>
  <p:tag name="TABLE_ENDDRAG_RECT" val="42*96*667*43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6143</Words>
  <Application>WPS Presentation</Application>
  <PresentationFormat>On-screen Show (4:3)</PresentationFormat>
  <Paragraphs>255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9" baseType="lpstr">
      <vt:lpstr>Arial</vt:lpstr>
      <vt:lpstr>SimSun</vt:lpstr>
      <vt:lpstr>Wingdings</vt:lpstr>
      <vt:lpstr>Times New Roman</vt:lpstr>
      <vt:lpstr>Calibri</vt:lpstr>
      <vt:lpstr>Microsoft YaHei</vt:lpstr>
      <vt:lpstr>Arial Unicode MS</vt:lpstr>
      <vt:lpstr>Wingdings</vt:lpstr>
      <vt:lpstr>Office Theme</vt:lpstr>
      <vt:lpstr>PowerPoint 演示文稿</vt:lpstr>
      <vt:lpstr>PowerPoint 演示文稿</vt:lpstr>
      <vt:lpstr>Contents</vt:lpstr>
      <vt:lpstr>Introduction</vt:lpstr>
      <vt:lpstr>Problem Statement</vt:lpstr>
      <vt:lpstr>  Literature Survey </vt:lpstr>
      <vt:lpstr>PowerPoint 演示文稿</vt:lpstr>
      <vt:lpstr>Requirements</vt:lpstr>
      <vt:lpstr>Flowchart</vt:lpstr>
      <vt:lpstr>Methodology</vt:lpstr>
      <vt:lpstr>PowerPoint 演示文稿</vt:lpstr>
      <vt:lpstr>RESULT </vt:lpstr>
      <vt:lpstr>PowerPoint 演示文稿</vt:lpstr>
      <vt:lpstr>PowerPoint 演示文稿</vt:lpstr>
      <vt:lpstr>OUTCOMES</vt:lpstr>
      <vt:lpstr>FUTURE SCOPE</vt:lpstr>
      <vt:lpstr>Conclusion</vt:lpstr>
      <vt:lpstr>Reference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dj</dc:creator>
  <cp:lastModifiedBy>ashwini gb13</cp:lastModifiedBy>
  <cp:revision>402</cp:revision>
  <dcterms:created xsi:type="dcterms:W3CDTF">2006-08-16T00:00:00Z</dcterms:created>
  <dcterms:modified xsi:type="dcterms:W3CDTF">2026-06-16T13:57:35Z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29CFEE474529457084BF8DC4FDA38F25_13</vt:lpwstr>
  </property>
  <property fmtid="{D5CDD505-2E9C-101B-9397-08002B2CF9AE}" pid="3" name="KSOProductBuildVer">
    <vt:lpwstr>1033-12.1.0.26880</vt:lpwstr>
  </property>
</Properties>
</file>